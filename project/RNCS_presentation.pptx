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us Jakarta Sans ExtraBold"/>
      <p:bold r:id="rId16"/>
      <p:boldItalic r:id="rId17"/>
    </p:embeddedFont>
    <p:embeddedFont>
      <p:font typeface="Plus Jakarta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14">
          <p15:clr>
            <a:srgbClr val="747775"/>
          </p15:clr>
        </p15:guide>
        <p15:guide id="2" orient="horz" pos="535">
          <p15:clr>
            <a:srgbClr val="747775"/>
          </p15:clr>
        </p15:guide>
        <p15:guide id="3" orient="horz" pos="631">
          <p15:clr>
            <a:srgbClr val="747775"/>
          </p15:clr>
        </p15:guide>
        <p15:guide id="4" orient="horz" pos="727">
          <p15:clr>
            <a:srgbClr val="747775"/>
          </p15:clr>
        </p15:guide>
        <p15:guide id="5" orient="horz" pos="549">
          <p15:clr>
            <a:srgbClr val="747775"/>
          </p15:clr>
        </p15:guide>
        <p15:guide id="6" orient="horz" pos="17">
          <p15:clr>
            <a:srgbClr val="747775"/>
          </p15:clr>
        </p15:guide>
        <p15:guide id="7" orient="horz">
          <p15:clr>
            <a:srgbClr val="747775"/>
          </p15:clr>
        </p15:guide>
        <p15:guide id="8" orient="horz" pos="48">
          <p15:clr>
            <a:srgbClr val="747775"/>
          </p15:clr>
        </p15:guide>
        <p15:guide id="9" orient="horz" pos="32">
          <p15:clr>
            <a:srgbClr val="747775"/>
          </p15:clr>
        </p15:guide>
        <p15:guide id="10" orient="horz" pos="40">
          <p15:clr>
            <a:srgbClr val="747775"/>
          </p15:clr>
        </p15:guide>
        <p15:guide id="11" orient="horz" pos="2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14" orient="horz"/>
        <p:guide pos="535" orient="horz"/>
        <p:guide pos="631" orient="horz"/>
        <p:guide pos="727" orient="horz"/>
        <p:guide pos="549" orient="horz"/>
        <p:guide pos="17" orient="horz"/>
        <p:guide orient="horz"/>
        <p:guide pos="48" orient="horz"/>
        <p:guide pos="32" orient="horz"/>
        <p:guide pos="40" orient="horz"/>
        <p:guide pos="28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PlusJakarta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usJakartaSansExtraBold-boldItalic.fntdata"/><Relationship Id="rId16" Type="http://schemas.openxmlformats.org/officeDocument/2006/relationships/font" Target="fonts/PlusJakartaSansExtra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bold.fntdata"/><Relationship Id="rId6" Type="http://schemas.openxmlformats.org/officeDocument/2006/relationships/slide" Target="slides/slide1.xml"/><Relationship Id="rId18" Type="http://schemas.openxmlformats.org/officeDocument/2006/relationships/font" Target="fonts/PlusJakarta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331bdb07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331bdb07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331bdb07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331bdb07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331bdb07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331bdb07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34a73814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34a73814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34a73814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34a73814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34a73814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34a73814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34a73814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34a73814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34a73814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34a73814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34a73814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34a73814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501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537488" y="666750"/>
            <a:ext cx="4606013" cy="4191150"/>
            <a:chOff x="537488" y="666750"/>
            <a:chExt cx="4606013" cy="4191150"/>
          </a:xfrm>
        </p:grpSpPr>
        <p:sp>
          <p:nvSpPr>
            <p:cNvPr id="55" name="Google Shape;55;p13"/>
            <p:cNvSpPr txBox="1"/>
            <p:nvPr/>
          </p:nvSpPr>
          <p:spPr>
            <a:xfrm>
              <a:off x="537488" y="666750"/>
              <a:ext cx="457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7400">
                  <a:solidFill>
                    <a:srgbClr val="EAF3D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Glean</a:t>
              </a:r>
              <a:endParaRPr i="1" sz="7400">
                <a:solidFill>
                  <a:srgbClr val="EAF3DE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6" name="Google Shape;56;p13"/>
            <p:cNvSpPr txBox="1"/>
            <p:nvPr/>
          </p:nvSpPr>
          <p:spPr>
            <a:xfrm>
              <a:off x="571500" y="1809750"/>
              <a:ext cx="457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97BC62"/>
                  </a:solidFill>
                  <a:latin typeface="Calibri"/>
                  <a:ea typeface="Calibri"/>
                  <a:cs typeface="Calibri"/>
                  <a:sym typeface="Calibri"/>
                </a:rPr>
                <a:t>Less waste. More good.</a:t>
              </a:r>
              <a:endParaRPr sz="1500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571500" y="2190750"/>
              <a:ext cx="457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7AA85E"/>
                  </a:solidFill>
                  <a:latin typeface="Calibri"/>
                  <a:ea typeface="Calibri"/>
                  <a:cs typeface="Calibri"/>
                  <a:sym typeface="Calibri"/>
                </a:rPr>
                <a:t>Campus Food Waste Tracker</a:t>
              </a:r>
              <a:endParaRPr sz="1300">
                <a:solidFill>
                  <a:srgbClr val="7AA85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7AA85E"/>
                  </a:solidFill>
                  <a:latin typeface="Calibri"/>
                  <a:ea typeface="Calibri"/>
                  <a:cs typeface="Calibri"/>
                  <a:sym typeface="Calibri"/>
                </a:rPr>
                <a:t>&amp; Smart Redistribution Platform</a:t>
              </a:r>
              <a:endParaRPr sz="1300">
                <a:solidFill>
                  <a:srgbClr val="7AA85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571500" y="4572000"/>
              <a:ext cx="457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527A35"/>
                  </a:solidFill>
                  <a:latin typeface="Calibri"/>
                  <a:ea typeface="Calibri"/>
                  <a:cs typeface="Calibri"/>
                  <a:sym typeface="Calibri"/>
                </a:rPr>
                <a:t>Suleiman Mejd, Donavon Burton</a:t>
              </a:r>
              <a:endParaRPr sz="800">
                <a:solidFill>
                  <a:srgbClr val="527A3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" name="Google Shape;59;p13"/>
          <p:cNvGrpSpPr/>
          <p:nvPr/>
        </p:nvGrpSpPr>
        <p:grpSpPr>
          <a:xfrm>
            <a:off x="5810250" y="666750"/>
            <a:ext cx="2857500" cy="3714900"/>
            <a:chOff x="5810250" y="666750"/>
            <a:chExt cx="2857500" cy="3714900"/>
          </a:xfrm>
        </p:grpSpPr>
        <p:sp>
          <p:nvSpPr>
            <p:cNvPr id="60" name="Google Shape;60;p13"/>
            <p:cNvSpPr txBox="1"/>
            <p:nvPr/>
          </p:nvSpPr>
          <p:spPr>
            <a:xfrm>
              <a:off x="5810250" y="666750"/>
              <a:ext cx="2857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>
                  <a:solidFill>
                    <a:srgbClr val="EAF3DE"/>
                  </a:solidFill>
                  <a:latin typeface="Georgia"/>
                  <a:ea typeface="Georgia"/>
                  <a:cs typeface="Georgia"/>
                  <a:sym typeface="Georgia"/>
                </a:rPr>
                <a:t>8–10%</a:t>
              </a:r>
              <a:endParaRPr sz="4400">
                <a:solidFill>
                  <a:srgbClr val="EAF3DE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7AA85E"/>
                  </a:solidFill>
                  <a:latin typeface="Calibri"/>
                  <a:ea typeface="Calibri"/>
                  <a:cs typeface="Calibri"/>
                  <a:sym typeface="Calibri"/>
                </a:rPr>
                <a:t>of global greenhouse</a:t>
              </a:r>
              <a:endParaRPr sz="1000">
                <a:solidFill>
                  <a:srgbClr val="7AA85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7AA85E"/>
                  </a:solidFill>
                  <a:latin typeface="Calibri"/>
                  <a:ea typeface="Calibri"/>
                  <a:cs typeface="Calibri"/>
                  <a:sym typeface="Calibri"/>
                </a:rPr>
                <a:t>gas emissions from food waste</a:t>
              </a:r>
              <a:endParaRPr sz="1000">
                <a:solidFill>
                  <a:srgbClr val="7AA85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" name="Google Shape;61;p13"/>
            <p:cNvCxnSpPr/>
            <p:nvPr/>
          </p:nvCxnSpPr>
          <p:spPr>
            <a:xfrm>
              <a:off x="5810250" y="1857375"/>
              <a:ext cx="2762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D5E2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" name="Google Shape;62;p13"/>
            <p:cNvSpPr txBox="1"/>
            <p:nvPr/>
          </p:nvSpPr>
          <p:spPr>
            <a:xfrm>
              <a:off x="5810250" y="2000250"/>
              <a:ext cx="2857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>
                  <a:solidFill>
                    <a:srgbClr val="EAF3DE"/>
                  </a:solidFill>
                  <a:latin typeface="Georgia"/>
                  <a:ea typeface="Georgia"/>
                  <a:cs typeface="Georgia"/>
                  <a:sym typeface="Georgia"/>
                </a:rPr>
                <a:t>$1T+</a:t>
              </a:r>
              <a:endParaRPr sz="4400">
                <a:solidFill>
                  <a:srgbClr val="EAF3DE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7AA85E"/>
                  </a:solidFill>
                  <a:latin typeface="Calibri"/>
                  <a:ea typeface="Calibri"/>
                  <a:cs typeface="Calibri"/>
                  <a:sym typeface="Calibri"/>
                </a:rPr>
                <a:t>lost to food waste</a:t>
              </a:r>
              <a:endParaRPr sz="1000">
                <a:solidFill>
                  <a:srgbClr val="7AA85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7AA85E"/>
                  </a:solidFill>
                  <a:latin typeface="Calibri"/>
                  <a:ea typeface="Calibri"/>
                  <a:cs typeface="Calibri"/>
                  <a:sym typeface="Calibri"/>
                </a:rPr>
                <a:t>every year worldwide</a:t>
              </a:r>
              <a:endParaRPr sz="1000">
                <a:solidFill>
                  <a:srgbClr val="7AA85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3" name="Google Shape;63;p13"/>
            <p:cNvCxnSpPr/>
            <p:nvPr/>
          </p:nvCxnSpPr>
          <p:spPr>
            <a:xfrm>
              <a:off x="5810250" y="3190875"/>
              <a:ext cx="2762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D5E2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" name="Google Shape;64;p13"/>
            <p:cNvSpPr txBox="1"/>
            <p:nvPr/>
          </p:nvSpPr>
          <p:spPr>
            <a:xfrm>
              <a:off x="5810250" y="3333750"/>
              <a:ext cx="2857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>
                  <a:solidFill>
                    <a:srgbClr val="EAF3DE"/>
                  </a:solidFill>
                  <a:latin typeface="Georgia"/>
                  <a:ea typeface="Georgia"/>
                  <a:cs typeface="Georgia"/>
                  <a:sym typeface="Georgia"/>
                </a:rPr>
                <a:t>40%</a:t>
              </a:r>
              <a:endParaRPr sz="4400">
                <a:solidFill>
                  <a:srgbClr val="EAF3DE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7AA85E"/>
                  </a:solidFill>
                  <a:latin typeface="Calibri"/>
                  <a:ea typeface="Calibri"/>
                  <a:cs typeface="Calibri"/>
                  <a:sym typeface="Calibri"/>
                </a:rPr>
                <a:t>of institutional food</a:t>
              </a:r>
              <a:endParaRPr sz="1000">
                <a:solidFill>
                  <a:srgbClr val="7AA85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7AA85E"/>
                  </a:solidFill>
                  <a:latin typeface="Calibri"/>
                  <a:ea typeface="Calibri"/>
                  <a:cs typeface="Calibri"/>
                  <a:sym typeface="Calibri"/>
                </a:rPr>
                <a:t>never reaches a plate</a:t>
              </a:r>
              <a:endParaRPr sz="1000">
                <a:solidFill>
                  <a:srgbClr val="7AA85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2D501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Problem</a:t>
            </a:r>
            <a:endParaRPr i="1">
              <a:solidFill>
                <a:srgbClr val="2D5016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3D5E2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3D5E28"/>
                </a:solidFill>
                <a:latin typeface="Calibri"/>
                <a:ea typeface="Calibri"/>
                <a:cs typeface="Calibri"/>
                <a:sym typeface="Calibri"/>
              </a:rPr>
              <a:t>22,000,000+ pounds</a:t>
            </a:r>
            <a:r>
              <a:rPr lang="en" sz="2100">
                <a:solidFill>
                  <a:srgbClr val="3D5E2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900">
                <a:solidFill>
                  <a:srgbClr val="3D5E28"/>
                </a:solidFill>
                <a:latin typeface="Calibri"/>
                <a:ea typeface="Calibri"/>
                <a:cs typeface="Calibri"/>
                <a:sym typeface="Calibri"/>
              </a:rPr>
              <a:t>of food is wasted at college campuses every year, according to the National Resource Defense Council.</a:t>
            </a:r>
            <a:endParaRPr b="1" i="1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311700" y="934325"/>
            <a:ext cx="8520600" cy="83400"/>
          </a:xfrm>
          <a:prstGeom prst="rect">
            <a:avLst/>
          </a:prstGeom>
          <a:solidFill>
            <a:srgbClr val="2D501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D5016"/>
              </a:solidFill>
            </a:endParaRPr>
          </a:p>
        </p:txBody>
      </p:sp>
      <p:sp>
        <p:nvSpPr>
          <p:cNvPr id="72" name="Google Shape;72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500">
              <a:solidFill>
                <a:srgbClr val="3D5E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3D5E28"/>
              </a:buClr>
              <a:buSzPts val="1500"/>
              <a:buFont typeface="Calibri"/>
              <a:buChar char="●"/>
            </a:pPr>
            <a:r>
              <a:rPr b="1" i="1" lang="en" sz="1500">
                <a:solidFill>
                  <a:srgbClr val="3D5E28"/>
                </a:solidFill>
                <a:latin typeface="Calibri"/>
                <a:ea typeface="Calibri"/>
                <a:cs typeface="Calibri"/>
                <a:sym typeface="Calibri"/>
              </a:rPr>
              <a:t>Universities recognize the waste but lack clear ways to reduce it, as current tracking methods are manual and complicated.</a:t>
            </a:r>
            <a:endParaRPr b="1" i="1" sz="1500">
              <a:solidFill>
                <a:srgbClr val="3D5E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500">
              <a:solidFill>
                <a:srgbClr val="3D5E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3D5E28"/>
              </a:buClr>
              <a:buSzPts val="1500"/>
              <a:buFont typeface="Calibri"/>
              <a:buChar char="●"/>
            </a:pPr>
            <a:r>
              <a:rPr b="1" i="1" lang="en" sz="1500">
                <a:solidFill>
                  <a:srgbClr val="3D5E28"/>
                </a:solidFill>
                <a:latin typeface="Calibri"/>
                <a:ea typeface="Calibri"/>
                <a:cs typeface="Calibri"/>
                <a:sym typeface="Calibri"/>
              </a:rPr>
              <a:t>There is no communication between campuses who have a surplus of food and the people who need it</a:t>
            </a:r>
            <a:endParaRPr b="1" sz="3500">
              <a:solidFill>
                <a:srgbClr val="3D5E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2D501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</a:t>
            </a:r>
            <a:r>
              <a:rPr i="1" lang="en">
                <a:solidFill>
                  <a:srgbClr val="2D501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Solution</a:t>
            </a:r>
            <a:r>
              <a:rPr i="1" lang="en">
                <a:solidFill>
                  <a:srgbClr val="2D501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: Glean</a:t>
            </a:r>
            <a:endParaRPr i="1">
              <a:solidFill>
                <a:srgbClr val="2D5016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11700" y="934325"/>
            <a:ext cx="8520600" cy="83400"/>
          </a:xfrm>
          <a:prstGeom prst="rect">
            <a:avLst/>
          </a:prstGeom>
          <a:solidFill>
            <a:srgbClr val="2D501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D5016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11700" y="1228975"/>
            <a:ext cx="85206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>
                <a:solidFill>
                  <a:srgbClr val="3D5E28"/>
                </a:solidFill>
                <a:latin typeface="Calibri"/>
                <a:ea typeface="Calibri"/>
                <a:cs typeface="Calibri"/>
                <a:sym typeface="Calibri"/>
              </a:rPr>
              <a:t>Glean</a:t>
            </a:r>
            <a:r>
              <a:rPr i="1" lang="en">
                <a:solidFill>
                  <a:srgbClr val="3D5E28"/>
                </a:solidFill>
                <a:latin typeface="Calibri"/>
                <a:ea typeface="Calibri"/>
                <a:cs typeface="Calibri"/>
                <a:sym typeface="Calibri"/>
              </a:rPr>
              <a:t> is a simple, </a:t>
            </a:r>
            <a:r>
              <a:rPr b="1" i="1" lang="en">
                <a:solidFill>
                  <a:srgbClr val="3D5E28"/>
                </a:solidFill>
                <a:latin typeface="Calibri"/>
                <a:ea typeface="Calibri"/>
                <a:cs typeface="Calibri"/>
                <a:sym typeface="Calibri"/>
              </a:rPr>
              <a:t>three-part</a:t>
            </a:r>
            <a:r>
              <a:rPr i="1" lang="en">
                <a:solidFill>
                  <a:srgbClr val="3D5E2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">
                <a:solidFill>
                  <a:srgbClr val="3D5E28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r>
              <a:rPr i="1" lang="en">
                <a:solidFill>
                  <a:srgbClr val="3D5E28"/>
                </a:solidFill>
                <a:latin typeface="Calibri"/>
                <a:ea typeface="Calibri"/>
                <a:cs typeface="Calibri"/>
                <a:sym typeface="Calibri"/>
              </a:rPr>
              <a:t> designed to fit into the existing workflow of a busy campus kitchen.</a:t>
            </a:r>
            <a:endParaRPr b="1" i="1" sz="1900">
              <a:solidFill>
                <a:srgbClr val="3D5E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5" title="Screenshot 2026-03-28 at 5.57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000" y="1678975"/>
            <a:ext cx="3665585" cy="315487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/>
          <p:nvPr/>
        </p:nvSpPr>
        <p:spPr>
          <a:xfrm>
            <a:off x="4258000" y="1678975"/>
            <a:ext cx="2111700" cy="258300"/>
          </a:xfrm>
          <a:prstGeom prst="rect">
            <a:avLst/>
          </a:prstGeom>
          <a:solidFill>
            <a:srgbClr val="4A7C2F"/>
          </a:solidFill>
          <a:ln cap="flat" cmpd="sng" w="9525">
            <a:solidFill>
              <a:srgbClr val="4A7C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Staff</a:t>
            </a:r>
            <a:endParaRPr b="1">
              <a:solidFill>
                <a:srgbClr val="FAFA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6632825" y="1678975"/>
            <a:ext cx="2111700" cy="258300"/>
          </a:xfrm>
          <a:prstGeom prst="rect">
            <a:avLst/>
          </a:prstGeom>
          <a:solidFill>
            <a:srgbClr val="FFAB40"/>
          </a:solidFill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8"/>
                </a:solidFill>
              </a:rPr>
              <a:t>Managers</a:t>
            </a:r>
            <a:endParaRPr b="1">
              <a:solidFill>
                <a:srgbClr val="FAFAF8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5467525" y="3385925"/>
            <a:ext cx="2111700" cy="2583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Food Banks</a:t>
            </a:r>
            <a:endParaRPr b="1">
              <a:solidFill>
                <a:srgbClr val="FAFA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4258000" y="1937275"/>
            <a:ext cx="2111700" cy="1305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6525" lvl="0" marL="1428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eorgia"/>
              <a:buChar char="●"/>
            </a:pPr>
            <a:r>
              <a:rPr b="1" lang="en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Use a simple mobile UI to log food waste at the end of the day </a:t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36525" lvl="0" marL="1428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eorgia"/>
              <a:buChar char="●"/>
            </a:pPr>
            <a:r>
              <a:rPr b="1" lang="en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Tags food by type and estimated weight</a:t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36525" lvl="1" marL="31432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eorgia"/>
              <a:buChar char="○"/>
            </a:pPr>
            <a:r>
              <a:rPr b="1" i="1" lang="en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E.g (Protein, Veg, Grain)</a:t>
            </a:r>
            <a:endParaRPr b="1" i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36525" lvl="0" marL="1428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eorgia"/>
              <a:buChar char="●"/>
            </a:pPr>
            <a:r>
              <a:rPr b="1" i="1" lang="en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Immediately notifies manager of available food </a:t>
            </a:r>
            <a:endParaRPr b="1" i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28600" lvl="0" marL="257175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6632825" y="1948225"/>
            <a:ext cx="2111700" cy="128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6525" lvl="0" marL="1428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eorgia"/>
              <a:buChar char="●"/>
            </a:pPr>
            <a:r>
              <a:rPr b="1" lang="en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View live analytics and cost-leak patterns via ‘ReCharts’ library</a:t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36525" lvl="0" marL="1428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eorgia"/>
              <a:buChar char="●"/>
            </a:pPr>
            <a:r>
              <a:rPr b="1" lang="en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Receive automated suggestions from OpenAI to reduce overall waste</a:t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36525" lvl="0" marL="1428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eorgia"/>
              <a:buChar char="●"/>
            </a:pPr>
            <a:r>
              <a:rPr b="1" lang="en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Approve and push food to local food banks</a:t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28600" lvl="0" marL="2571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469775" y="3644225"/>
            <a:ext cx="2107200" cy="1305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6525" lvl="0" marL="1428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eorgia"/>
              <a:buChar char="●"/>
            </a:pPr>
            <a:r>
              <a:rPr b="1" lang="en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Browse a real time feed of </a:t>
            </a:r>
            <a:r>
              <a:rPr b="1" lang="en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available surplus food</a:t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36525" lvl="0" marL="1428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eorgia"/>
              <a:buChar char="●"/>
            </a:pPr>
            <a:r>
              <a:rPr b="1" lang="en" sz="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Sorts by dietary needs and distance with one click</a:t>
            </a:r>
            <a:endParaRPr b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85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5016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FAFA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Kitchen Staff Logging</a:t>
            </a:r>
            <a:endParaRPr b="1" i="1">
              <a:solidFill>
                <a:srgbClr val="FAFA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243300" y="1152475"/>
            <a:ext cx="40416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2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Glean’s</a:t>
            </a:r>
            <a:r>
              <a:rPr lang="en" sz="12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fast </a:t>
            </a:r>
            <a:r>
              <a:rPr b="1" lang="en" sz="12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 UI </a:t>
            </a:r>
            <a:r>
              <a:rPr lang="en" sz="12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makes logging food for kitchen staff </a:t>
            </a:r>
            <a:r>
              <a:rPr lang="en" sz="12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hassle</a:t>
            </a:r>
            <a:r>
              <a:rPr lang="en" sz="12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free </a:t>
            </a:r>
            <a:endParaRPr sz="122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11700" y="934325"/>
            <a:ext cx="8520600" cy="83400"/>
          </a:xfrm>
          <a:prstGeom prst="rect">
            <a:avLst/>
          </a:prstGeom>
          <a:solidFill>
            <a:srgbClr val="FAFAF8"/>
          </a:solidFill>
          <a:ln cap="flat" cmpd="sng" w="9525">
            <a:solidFill>
              <a:srgbClr val="FAF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AF8"/>
              </a:solidFill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0475" y="1303462"/>
            <a:ext cx="1836200" cy="25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7500" y="1291825"/>
            <a:ext cx="1798375" cy="36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311700" y="1806225"/>
            <a:ext cx="3806100" cy="28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AFAF8"/>
              </a:buClr>
              <a:buSzPts val="1300"/>
              <a:buChar char="●"/>
            </a:pPr>
            <a:r>
              <a:rPr lang="en" sz="13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Supports </a:t>
            </a:r>
            <a:r>
              <a:rPr b="1" lang="en" sz="13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multiple entry types</a:t>
            </a:r>
            <a:r>
              <a:rPr lang="en" sz="13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 to ensure data accuracy regardless of how the kitchen preps its food.</a:t>
            </a:r>
            <a:endParaRPr sz="1300">
              <a:solidFill>
                <a:srgbClr val="FAFA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FAFAF8"/>
              </a:buClr>
              <a:buSzPts val="1300"/>
              <a:buFont typeface="Calibri"/>
              <a:buChar char="○"/>
            </a:pPr>
            <a:r>
              <a:rPr lang="en" sz="13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(e.g., "5 lbs" or "20 Portions")</a:t>
            </a:r>
            <a:endParaRPr sz="1300">
              <a:solidFill>
                <a:srgbClr val="FAFA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AFA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AFAF8"/>
              </a:buClr>
              <a:buSzPts val="1300"/>
              <a:buChar char="●"/>
            </a:pPr>
            <a:r>
              <a:rPr lang="en" sz="13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b="1" lang="en" sz="13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photos</a:t>
            </a:r>
            <a:r>
              <a:rPr lang="en" sz="13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 to document food quality and amount.</a:t>
            </a:r>
            <a:endParaRPr sz="1300">
              <a:solidFill>
                <a:srgbClr val="FAFA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AFA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AFAF8"/>
              </a:buClr>
              <a:buSzPts val="1300"/>
              <a:buChar char="●"/>
            </a:pPr>
            <a:r>
              <a:rPr lang="en" sz="13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lang="en" sz="13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pre-defined inventory tag</a:t>
            </a:r>
            <a:r>
              <a:rPr lang="en" sz="13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s to accelerate entry and ensure high data accuracy for better sorting.</a:t>
            </a:r>
            <a:endParaRPr sz="1300">
              <a:solidFill>
                <a:srgbClr val="FAFA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FAFAF8"/>
              </a:buClr>
              <a:buSzPts val="1300"/>
              <a:buFont typeface="Calibri"/>
              <a:buChar char="○"/>
            </a:pPr>
            <a:r>
              <a:rPr lang="en" sz="13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(e.g. “Protein”, “Dairy”, “Baked Goods")</a:t>
            </a:r>
            <a:endParaRPr sz="1300">
              <a:solidFill>
                <a:srgbClr val="FAFA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26850" y="1671475"/>
            <a:ext cx="3874500" cy="4200"/>
          </a:xfrm>
          <a:prstGeom prst="rect">
            <a:avLst/>
          </a:prstGeom>
          <a:solidFill>
            <a:srgbClr val="FAFAF8"/>
          </a:solidFill>
          <a:ln cap="flat" cmpd="sng" w="9525">
            <a:solidFill>
              <a:srgbClr val="FAF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AF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5016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FAFA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Manager Dashboard</a:t>
            </a:r>
            <a:endParaRPr b="1" i="1">
              <a:solidFill>
                <a:srgbClr val="FAFA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5059925" y="1152475"/>
            <a:ext cx="392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AFAF8"/>
              </a:buClr>
              <a:buSzPts val="1600"/>
              <a:buChar char="●"/>
            </a:pPr>
            <a:r>
              <a:rPr lang="en" sz="16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Convert wasted food into real-time </a:t>
            </a:r>
            <a:r>
              <a:rPr b="1" lang="en" sz="16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financial data </a:t>
            </a:r>
            <a:r>
              <a:rPr lang="en" sz="16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to pinpoint </a:t>
            </a:r>
            <a:r>
              <a:rPr b="1" lang="en" sz="16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budget leaks</a:t>
            </a:r>
            <a:r>
              <a:rPr lang="en" sz="16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 instantly.</a:t>
            </a:r>
            <a:endParaRPr sz="1600">
              <a:solidFill>
                <a:srgbClr val="FAFA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AFA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FAFAF8"/>
              </a:buClr>
              <a:buSzPts val="1600"/>
              <a:buChar char="●"/>
            </a:pPr>
            <a:r>
              <a:rPr lang="en" sz="16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b="1" lang="en" sz="16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OpenAI</a:t>
            </a:r>
            <a:r>
              <a:rPr lang="en" sz="16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 to analyze waste patterns and suggest precise production cuts for the next cycle.</a:t>
            </a:r>
            <a:endParaRPr sz="1600">
              <a:solidFill>
                <a:srgbClr val="FAFA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AFA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FAFAF8"/>
              </a:buClr>
              <a:buSzPts val="1600"/>
              <a:buChar char="●"/>
            </a:pPr>
            <a:r>
              <a:rPr lang="en" sz="16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Instantly </a:t>
            </a:r>
            <a:r>
              <a:rPr b="1" lang="en" sz="16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review and verify </a:t>
            </a:r>
            <a:r>
              <a:rPr lang="en" sz="1600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kitchen logs before they are broadcast to food banks in the local area.</a:t>
            </a:r>
            <a:endParaRPr sz="1600">
              <a:solidFill>
                <a:srgbClr val="FAFA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311700" y="934325"/>
            <a:ext cx="8520600" cy="83400"/>
          </a:xfrm>
          <a:prstGeom prst="rect">
            <a:avLst/>
          </a:prstGeom>
          <a:solidFill>
            <a:srgbClr val="FAF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AF8"/>
              </a:solidFill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375" y="1121200"/>
            <a:ext cx="3844126" cy="21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938" y="3399675"/>
            <a:ext cx="4884975" cy="159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i="1" lang="en">
                <a:solidFill>
                  <a:srgbClr val="2D501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Food Bank Distribution</a:t>
            </a:r>
            <a:endParaRPr i="1">
              <a:solidFill>
                <a:srgbClr val="2D5016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FAFA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311700" y="934325"/>
            <a:ext cx="8520600" cy="83400"/>
          </a:xfrm>
          <a:prstGeom prst="rect">
            <a:avLst/>
          </a:prstGeom>
          <a:solidFill>
            <a:srgbClr val="2D501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D5016"/>
              </a:solidFill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850" y="1636875"/>
            <a:ext cx="4094426" cy="2543950"/>
          </a:xfrm>
          <a:prstGeom prst="rect">
            <a:avLst/>
          </a:prstGeom>
          <a:solidFill>
            <a:srgbClr val="2D5016"/>
          </a:solidFill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311700" y="4165125"/>
            <a:ext cx="85206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a 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dashboard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available food, categorized by weight and ingredient type.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Reserve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specific food batches instantly to ensure a 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coordinated pickup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 all 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 claims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food collected each week for easy reporting.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2525" y="1595650"/>
            <a:ext cx="2365255" cy="2543950"/>
          </a:xfrm>
          <a:prstGeom prst="rect">
            <a:avLst/>
          </a:prstGeom>
          <a:solidFill>
            <a:srgbClr val="2D5016"/>
          </a:solidFill>
          <a:ln>
            <a:noFill/>
          </a:ln>
        </p:spPr>
      </p:pic>
      <p:sp>
        <p:nvSpPr>
          <p:cNvPr id="116" name="Google Shape;116;p18"/>
          <p:cNvSpPr txBox="1"/>
          <p:nvPr/>
        </p:nvSpPr>
        <p:spPr>
          <a:xfrm>
            <a:off x="311700" y="1058950"/>
            <a:ext cx="8520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D5016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" sz="1100">
                <a:solidFill>
                  <a:srgbClr val="2D5016"/>
                </a:solidFill>
                <a:latin typeface="Calibri"/>
                <a:ea typeface="Calibri"/>
                <a:cs typeface="Calibri"/>
                <a:sym typeface="Calibri"/>
              </a:rPr>
              <a:t>Food Bank Dashboard </a:t>
            </a:r>
            <a:r>
              <a:rPr lang="en" sz="1100">
                <a:solidFill>
                  <a:srgbClr val="2D5016"/>
                </a:solidFill>
                <a:latin typeface="Calibri"/>
                <a:ea typeface="Calibri"/>
                <a:cs typeface="Calibri"/>
                <a:sym typeface="Calibri"/>
              </a:rPr>
              <a:t>provides food banks with efficient, real-time access to surplus food from university kitchens.</a:t>
            </a:r>
            <a:endParaRPr sz="1100">
              <a:solidFill>
                <a:srgbClr val="2D50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i="1" lang="en">
                <a:solidFill>
                  <a:srgbClr val="2D501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App Flow</a:t>
            </a:r>
            <a:endParaRPr i="1">
              <a:solidFill>
                <a:srgbClr val="2D5016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311700" y="934325"/>
            <a:ext cx="8520600" cy="83400"/>
          </a:xfrm>
          <a:prstGeom prst="rect">
            <a:avLst/>
          </a:prstGeom>
          <a:solidFill>
            <a:srgbClr val="2D501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D5016"/>
              </a:solidFill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6424200" y="1723825"/>
            <a:ext cx="2408100" cy="1179000"/>
          </a:xfrm>
          <a:prstGeom prst="snip1Rect">
            <a:avLst>
              <a:gd fmla="val 16667" name="adj"/>
            </a:avLst>
          </a:prstGeom>
          <a:solidFill>
            <a:srgbClr val="EEEEEE">
              <a:alpha val="0"/>
            </a:srgbClr>
          </a:solidFill>
          <a:ln cap="flat" cmpd="sng" w="38100">
            <a:solidFill>
              <a:srgbClr val="2D5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Completes the cycle</a:t>
            </a:r>
            <a:r>
              <a:rPr lang="en" sz="1000">
                <a:solidFill>
                  <a:schemeClr val="dk1"/>
                </a:solidFill>
              </a:rPr>
              <a:t> by browsing the filtered marketplace to claim available food, manage incoming donations, and coordinate seamless pickups for their community.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4" name="Google Shape;124;p19"/>
          <p:cNvSpPr/>
          <p:nvPr/>
        </p:nvSpPr>
        <p:spPr>
          <a:xfrm>
            <a:off x="311700" y="1723825"/>
            <a:ext cx="2408100" cy="1179000"/>
          </a:xfrm>
          <a:prstGeom prst="snip1Rect">
            <a:avLst>
              <a:gd fmla="val 16667" name="adj"/>
            </a:avLst>
          </a:prstGeom>
          <a:solidFill>
            <a:srgbClr val="EEEEEE">
              <a:alpha val="0"/>
            </a:srgbClr>
          </a:solidFill>
          <a:ln cap="flat" cmpd="sng" w="38100">
            <a:solidFill>
              <a:srgbClr val="2D5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/>
              <a:t>Records the surplus</a:t>
            </a:r>
            <a:r>
              <a:rPr lang="en" sz="1100"/>
              <a:t> at the source by logging weights and snapping photos, instantly pushing real-time data to the management layer.</a:t>
            </a:r>
            <a:endParaRPr sz="1100"/>
          </a:p>
        </p:txBody>
      </p:sp>
      <p:sp>
        <p:nvSpPr>
          <p:cNvPr id="125" name="Google Shape;125;p19"/>
          <p:cNvSpPr/>
          <p:nvPr/>
        </p:nvSpPr>
        <p:spPr>
          <a:xfrm>
            <a:off x="3367950" y="1723825"/>
            <a:ext cx="2408100" cy="1179000"/>
          </a:xfrm>
          <a:prstGeom prst="snip1Rect">
            <a:avLst>
              <a:gd fmla="val 16667" name="adj"/>
            </a:avLst>
          </a:prstGeom>
          <a:solidFill>
            <a:srgbClr val="EEEEEE">
              <a:alpha val="0"/>
            </a:srgbClr>
          </a:solidFill>
          <a:ln cap="flat" cmpd="sng" w="38100">
            <a:solidFill>
              <a:srgbClr val="2D5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Analyzes the data</a:t>
            </a:r>
            <a:r>
              <a:rPr lang="en" sz="1000">
                <a:solidFill>
                  <a:schemeClr val="dk1"/>
                </a:solidFill>
              </a:rPr>
              <a:t> with the help of </a:t>
            </a:r>
            <a:r>
              <a:rPr b="1" lang="en" sz="1000">
                <a:solidFill>
                  <a:schemeClr val="dk1"/>
                </a:solidFill>
              </a:rPr>
              <a:t>OpenAI</a:t>
            </a:r>
            <a:r>
              <a:rPr lang="en" sz="1000">
                <a:solidFill>
                  <a:schemeClr val="dk1"/>
                </a:solidFill>
              </a:rPr>
              <a:t> to identify consistent waste patterns and provides clear instructions for food banks to pick up safe, high-quality batches.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26" name="Google Shape;126;p19"/>
          <p:cNvCxnSpPr/>
          <p:nvPr/>
        </p:nvCxnSpPr>
        <p:spPr>
          <a:xfrm flipH="1" rot="10800000">
            <a:off x="2812125" y="2310775"/>
            <a:ext cx="463500" cy="5100"/>
          </a:xfrm>
          <a:prstGeom prst="straightConnector1">
            <a:avLst/>
          </a:prstGeom>
          <a:noFill/>
          <a:ln cap="flat" cmpd="sng" w="9525">
            <a:solidFill>
              <a:srgbClr val="2D501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9"/>
          <p:cNvCxnSpPr/>
          <p:nvPr/>
        </p:nvCxnSpPr>
        <p:spPr>
          <a:xfrm flipH="1" rot="10800000">
            <a:off x="5868375" y="2310775"/>
            <a:ext cx="463500" cy="5100"/>
          </a:xfrm>
          <a:prstGeom prst="straightConnector1">
            <a:avLst/>
          </a:prstGeom>
          <a:noFill/>
          <a:ln cap="flat" cmpd="sng" w="9525">
            <a:solidFill>
              <a:srgbClr val="2D501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19"/>
          <p:cNvSpPr txBox="1"/>
          <p:nvPr/>
        </p:nvSpPr>
        <p:spPr>
          <a:xfrm>
            <a:off x="311700" y="1291825"/>
            <a:ext cx="182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2D50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Kitchen Staff</a:t>
            </a:r>
            <a:endParaRPr b="1" i="1" sz="1600">
              <a:solidFill>
                <a:srgbClr val="2D501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3367950" y="1291825"/>
            <a:ext cx="182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2D50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Managers</a:t>
            </a:r>
            <a:endParaRPr b="1" i="1" sz="1600">
              <a:solidFill>
                <a:srgbClr val="2D501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6424200" y="1291825"/>
            <a:ext cx="182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2D50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Food Banks</a:t>
            </a:r>
            <a:endParaRPr b="1" i="1" sz="1600">
              <a:solidFill>
                <a:srgbClr val="2D501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638450" y="3566825"/>
            <a:ext cx="586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2D50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Glean’s design transforms raw kitchen data into actionable instructions that bridge the gap between surplus and community need.</a:t>
            </a:r>
            <a:endParaRPr b="1" i="1" sz="1600">
              <a:solidFill>
                <a:srgbClr val="2D501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i="1" lang="en">
                <a:solidFill>
                  <a:srgbClr val="2D50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</a:t>
            </a:r>
            <a:r>
              <a:rPr b="1" i="1" lang="en">
                <a:solidFill>
                  <a:srgbClr val="2D50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</a:t>
            </a:r>
            <a:r>
              <a:rPr b="1" i="1" lang="en">
                <a:solidFill>
                  <a:srgbClr val="2D50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Stack</a:t>
            </a:r>
            <a:endParaRPr b="1" i="1">
              <a:solidFill>
                <a:srgbClr val="2D501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311700" y="934325"/>
            <a:ext cx="8520600" cy="83400"/>
          </a:xfrm>
          <a:prstGeom prst="rect">
            <a:avLst/>
          </a:prstGeom>
          <a:solidFill>
            <a:srgbClr val="2D501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AF8"/>
              </a:solidFill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425475" y="1291825"/>
            <a:ext cx="2385600" cy="1576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4F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1A19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Infrastructure</a:t>
            </a:r>
            <a:endParaRPr b="1" i="1">
              <a:solidFill>
                <a:srgbClr val="1A191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425475" y="1808200"/>
            <a:ext cx="2385600" cy="83400"/>
          </a:xfrm>
          <a:prstGeom prst="rect">
            <a:avLst/>
          </a:prstGeom>
          <a:solidFill>
            <a:srgbClr val="2D501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"/>
          <p:cNvSpPr txBox="1"/>
          <p:nvPr/>
        </p:nvSpPr>
        <p:spPr>
          <a:xfrm>
            <a:off x="458625" y="1891600"/>
            <a:ext cx="23193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0975" lvl="0" marL="314325" rtl="0" algn="l">
              <a:spcBef>
                <a:spcPts val="0"/>
              </a:spcBef>
              <a:spcAft>
                <a:spcPts val="0"/>
              </a:spcAft>
              <a:buClr>
                <a:srgbClr val="1A1916"/>
              </a:buClr>
              <a:buSzPts val="1500"/>
              <a:buFont typeface="Calibri"/>
              <a:buChar char="-"/>
            </a:pP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Next.js</a:t>
            </a:r>
            <a:r>
              <a:rPr b="1" lang="en" sz="1500">
                <a:solidFill>
                  <a:srgbClr val="1A1916"/>
                </a:solidFill>
                <a:latin typeface="Calibri"/>
                <a:ea typeface="Calibri"/>
                <a:cs typeface="Calibri"/>
                <a:sym typeface="Calibri"/>
              </a:rPr>
              <a:t> 14</a:t>
            </a:r>
            <a:endParaRPr b="1" sz="1500">
              <a:solidFill>
                <a:srgbClr val="1A19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314325" rtl="0" algn="l">
              <a:spcBef>
                <a:spcPts val="0"/>
              </a:spcBef>
              <a:spcAft>
                <a:spcPts val="0"/>
              </a:spcAft>
              <a:buClr>
                <a:srgbClr val="1A1916"/>
              </a:buClr>
              <a:buSzPts val="1500"/>
              <a:buFont typeface="Calibri"/>
              <a:buChar char="-"/>
            </a:pPr>
            <a:r>
              <a:rPr b="1" lang="en" sz="1500">
                <a:solidFill>
                  <a:srgbClr val="1A1916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 b="1" sz="1500">
              <a:solidFill>
                <a:srgbClr val="1A19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314325" rtl="0" algn="l">
              <a:spcBef>
                <a:spcPts val="0"/>
              </a:spcBef>
              <a:spcAft>
                <a:spcPts val="0"/>
              </a:spcAft>
              <a:buClr>
                <a:srgbClr val="1A1916"/>
              </a:buClr>
              <a:buSzPts val="1500"/>
              <a:buFont typeface="Calibri"/>
              <a:buChar char="-"/>
            </a:pPr>
            <a:r>
              <a:rPr b="1" lang="en" sz="1500">
                <a:solidFill>
                  <a:srgbClr val="1A1916"/>
                </a:solidFill>
                <a:latin typeface="Calibri"/>
                <a:ea typeface="Calibri"/>
                <a:cs typeface="Calibri"/>
                <a:sym typeface="Calibri"/>
              </a:rPr>
              <a:t>React 18</a:t>
            </a:r>
            <a:endParaRPr b="1" sz="1500">
              <a:solidFill>
                <a:srgbClr val="1A19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A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3379200" y="2643700"/>
            <a:ext cx="2385600" cy="1754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4F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1A19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 &amp; Styling</a:t>
            </a:r>
            <a:endParaRPr b="1" i="1">
              <a:solidFill>
                <a:srgbClr val="1A191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3379200" y="3160075"/>
            <a:ext cx="2385600" cy="83400"/>
          </a:xfrm>
          <a:prstGeom prst="rect">
            <a:avLst/>
          </a:prstGeom>
          <a:solidFill>
            <a:srgbClr val="FFAB4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AB40"/>
              </a:solidFill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3412350" y="3243475"/>
            <a:ext cx="23193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0975" lvl="0" marL="314325" rtl="0" algn="l">
              <a:spcBef>
                <a:spcPts val="0"/>
              </a:spcBef>
              <a:spcAft>
                <a:spcPts val="0"/>
              </a:spcAft>
              <a:buClr>
                <a:srgbClr val="1A1916"/>
              </a:buClr>
              <a:buSzPts val="1500"/>
              <a:buFont typeface="Calibri"/>
              <a:buChar char="-"/>
            </a:pPr>
            <a:r>
              <a:rPr b="1" lang="en" sz="1500">
                <a:solidFill>
                  <a:srgbClr val="1A1916"/>
                </a:solidFill>
                <a:latin typeface="Calibri"/>
                <a:ea typeface="Calibri"/>
                <a:cs typeface="Calibri"/>
                <a:sym typeface="Calibri"/>
              </a:rPr>
              <a:t>Recharts</a:t>
            </a:r>
            <a:endParaRPr b="1" sz="1500">
              <a:solidFill>
                <a:srgbClr val="1A19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314325" rtl="0" algn="l">
              <a:spcBef>
                <a:spcPts val="0"/>
              </a:spcBef>
              <a:spcAft>
                <a:spcPts val="0"/>
              </a:spcAft>
              <a:buClr>
                <a:srgbClr val="1A1916"/>
              </a:buClr>
              <a:buSzPts val="1500"/>
              <a:buFont typeface="Calibri"/>
              <a:buChar char="-"/>
            </a:pPr>
            <a:r>
              <a:rPr b="1" lang="en" sz="1500">
                <a:solidFill>
                  <a:srgbClr val="1A1916"/>
                </a:solidFill>
                <a:latin typeface="Calibri"/>
                <a:ea typeface="Calibri"/>
                <a:cs typeface="Calibri"/>
                <a:sym typeface="Calibri"/>
              </a:rPr>
              <a:t>Lucide</a:t>
            </a:r>
            <a:endParaRPr b="1" sz="1500">
              <a:solidFill>
                <a:srgbClr val="1A19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314325" rtl="0" algn="l">
              <a:spcBef>
                <a:spcPts val="0"/>
              </a:spcBef>
              <a:spcAft>
                <a:spcPts val="0"/>
              </a:spcAft>
              <a:buClr>
                <a:srgbClr val="1A1916"/>
              </a:buClr>
              <a:buSzPts val="1500"/>
              <a:buFont typeface="Calibri"/>
              <a:buChar char="-"/>
            </a:pPr>
            <a:r>
              <a:rPr b="1" lang="en" sz="1500">
                <a:solidFill>
                  <a:srgbClr val="1A1916"/>
                </a:solidFill>
                <a:latin typeface="Calibri"/>
                <a:ea typeface="Calibri"/>
                <a:cs typeface="Calibri"/>
                <a:sym typeface="Calibri"/>
              </a:rPr>
              <a:t>Zustand v4</a:t>
            </a:r>
            <a:endParaRPr b="1" sz="1500">
              <a:solidFill>
                <a:srgbClr val="1A19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314325" rtl="0" algn="l">
              <a:spcBef>
                <a:spcPts val="0"/>
              </a:spcBef>
              <a:spcAft>
                <a:spcPts val="0"/>
              </a:spcAft>
              <a:buClr>
                <a:srgbClr val="1A1916"/>
              </a:buClr>
              <a:buSzPts val="1500"/>
              <a:buFont typeface="Calibri"/>
              <a:buChar char="-"/>
            </a:pPr>
            <a:r>
              <a:rPr b="1" lang="en" sz="1500">
                <a:solidFill>
                  <a:srgbClr val="1A1916"/>
                </a:solidFill>
                <a:latin typeface="Calibri"/>
                <a:ea typeface="Calibri"/>
                <a:cs typeface="Calibri"/>
                <a:sym typeface="Calibri"/>
              </a:rPr>
              <a:t>Tailwind CSS v3</a:t>
            </a:r>
            <a:endParaRPr b="1" sz="1500">
              <a:solidFill>
                <a:srgbClr val="1A19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A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6198725" y="1434750"/>
            <a:ext cx="2385600" cy="1124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4F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1A19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</a:t>
            </a:r>
            <a:endParaRPr b="1" i="1">
              <a:solidFill>
                <a:srgbClr val="1A191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6198725" y="1889900"/>
            <a:ext cx="2385600" cy="83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 txBox="1"/>
          <p:nvPr/>
        </p:nvSpPr>
        <p:spPr>
          <a:xfrm>
            <a:off x="6198725" y="1973300"/>
            <a:ext cx="23193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0975" lvl="0" marL="314325" rtl="0" algn="l">
              <a:spcBef>
                <a:spcPts val="0"/>
              </a:spcBef>
              <a:spcAft>
                <a:spcPts val="0"/>
              </a:spcAft>
              <a:buClr>
                <a:srgbClr val="1A1916"/>
              </a:buClr>
              <a:buSzPts val="1500"/>
              <a:buFont typeface="Calibri"/>
              <a:buChar char="-"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SDK v4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Model: gpt‑4o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A19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5016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FAFA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Plans for the Future</a:t>
            </a:r>
            <a:endParaRPr b="1" i="1">
              <a:solidFill>
                <a:srgbClr val="FAFA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311700" y="934325"/>
            <a:ext cx="8520600" cy="83400"/>
          </a:xfrm>
          <a:prstGeom prst="rect">
            <a:avLst/>
          </a:prstGeom>
          <a:solidFill>
            <a:srgbClr val="FAF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AF8"/>
              </a:solidFill>
            </a:endParaRPr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Glean is built as a production-ready foundation, engineered to scale seamlessly from a single kitchen to a high-impact, multi-campus recovery network.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364900" y="1679425"/>
            <a:ext cx="852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Production-Ready Changes:</a:t>
            </a:r>
            <a:endParaRPr b="1" i="1" sz="1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2857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311700" y="2076925"/>
            <a:ext cx="8520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400"/>
              <a:buChar char="●"/>
            </a:pPr>
            <a:r>
              <a:rPr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Replacing </a:t>
            </a:r>
            <a:r>
              <a:rPr b="1"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Zustand</a:t>
            </a:r>
            <a:r>
              <a:rPr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 mock data with a live </a:t>
            </a:r>
            <a:r>
              <a:rPr b="1"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r>
              <a:rPr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 database (via Supabase) to ensure every surplus entry is saved and searchable.</a:t>
            </a:r>
            <a:endParaRPr>
              <a:solidFill>
                <a:srgbClr val="EEEEE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EEEE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400"/>
              <a:buChar char="●"/>
            </a:pPr>
            <a:r>
              <a:rPr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Implementing real </a:t>
            </a:r>
            <a:r>
              <a:rPr b="1"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authentication and Role-Based Sessions</a:t>
            </a:r>
            <a:r>
              <a:rPr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 for Kitchen Staff, Managers, and Food Banks to ensure secure, private account access using </a:t>
            </a:r>
            <a:r>
              <a:rPr b="1"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auth.js</a:t>
            </a:r>
            <a:r>
              <a:rPr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solidFill>
                <a:srgbClr val="EEEE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311700" y="3393650"/>
            <a:ext cx="852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Scaling for Growth: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311700" y="3791150"/>
            <a:ext cx="8520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400"/>
              <a:buFont typeface="Calibri"/>
              <a:buChar char="●"/>
            </a:pPr>
            <a:r>
              <a:rPr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Updating the database schema to enable </a:t>
            </a:r>
            <a:r>
              <a:rPr b="1"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multi-campus support, </a:t>
            </a:r>
            <a:r>
              <a:rPr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allowing a single manager to oversee multiple dining halls across an entire university system.</a:t>
            </a:r>
            <a:endParaRPr>
              <a:solidFill>
                <a:srgbClr val="EEEEE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EEEE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400"/>
              <a:buFont typeface="Calibri"/>
              <a:buChar char="●"/>
            </a:pPr>
            <a:r>
              <a:rPr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Exploring </a:t>
            </a:r>
            <a:r>
              <a:rPr b="1"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Expo</a:t>
            </a:r>
            <a:r>
              <a:rPr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 as a potential framework to port </a:t>
            </a:r>
            <a:r>
              <a:rPr b="1"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mobile-first</a:t>
            </a:r>
            <a:r>
              <a:rPr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 web code into a </a:t>
            </a:r>
            <a:r>
              <a:rPr b="1"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native</a:t>
            </a:r>
            <a:r>
              <a:rPr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r>
              <a:rPr lang="en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 for kitchen tablets.</a:t>
            </a:r>
            <a:endParaRPr>
              <a:solidFill>
                <a:srgbClr val="EEEE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5016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226650" y="1749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You!</a:t>
            </a:r>
            <a:endParaRPr b="1" i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3" name="Google Shape;163;p22"/>
          <p:cNvSpPr txBox="1"/>
          <p:nvPr>
            <p:ph type="title"/>
          </p:nvPr>
        </p:nvSpPr>
        <p:spPr>
          <a:xfrm>
            <a:off x="226650" y="2254250"/>
            <a:ext cx="85206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88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Demo Presentation</a:t>
            </a:r>
            <a:endParaRPr b="1" i="1" sz="1388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Questions or Comments?</a:t>
            </a:r>
            <a:endParaRPr b="1" i="1" sz="13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